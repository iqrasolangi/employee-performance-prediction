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Performance Rating Distribution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C28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Low (1)</c:v>
                </c:pt>
                <c:pt idx="1">
                  <c:v>Good (2)</c:v>
                </c:pt>
                <c:pt idx="2">
                  <c:v>Excellent (3)</c:v>
                </c:pt>
                <c:pt idx="3">
                  <c:v>Outstanding (4)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420</c:v>
                </c:pt>
                <c:pt idx="2">
                  <c:v>490</c:v>
                </c:pt>
                <c:pt idx="3">
                  <c:v>110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98fd25b-4786-475e-80e0-af6880cc2d08}"/>
      </c:ext>
    </c:extLst>
  </c:chart>
  <c:spPr>
    <a:solidFill>
      <a:srgbClr val="EAF4FB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Model Test Accuracy Comparison (%)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7F8C8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F8C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8C8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8C8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8C8D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C28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Gradient
Boosting</c:v>
                </c:pt>
                <c:pt idx="4">
                  <c:v>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79</c:v>
                </c:pt>
                <c:pt idx="2">
                  <c:v>93</c:v>
                </c:pt>
                <c:pt idx="3">
                  <c:v>91</c:v>
                </c:pt>
                <c:pt idx="4">
                  <c:v>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 cmpd="sng" algn="ctr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D6D7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68fb4b6-cc44-4817-bb55-dbbcd9ed00ca}"/>
      </c:ext>
    </c:extLst>
  </c:chart>
  <c:spPr>
    <a:solidFill>
      <a:srgbClr val="EAF4FB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Performance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Prediction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Data Science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291840"/>
            <a:ext cx="27432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9184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BC9C"/>
                </a:solidFill>
              </a:rPr>
              <a:t>Dataset: </a:t>
            </a:r>
            <a:r>
              <a:rPr lang="en-US" sz="1100" dirty="0">
                <a:solidFill>
                  <a:srgbClr val="FFFFFF"/>
                </a:solidFill>
              </a:rPr>
              <a:t>INX Future Inc. (Kaggle)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3291840"/>
            <a:ext cx="27432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329184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BC9C"/>
                </a:solidFill>
              </a:rPr>
              <a:t>Records: </a:t>
            </a:r>
            <a:r>
              <a:rPr lang="en-US" sz="1100" dirty="0">
                <a:solidFill>
                  <a:srgbClr val="FFFFFF"/>
                </a:solidFill>
              </a:rPr>
              <a:t>1,200 Employees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274320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29184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BC9C"/>
                </a:solidFill>
              </a:rPr>
              <a:t>Type: </a:t>
            </a:r>
            <a:r>
              <a:rPr lang="en-US" sz="1100" dirty="0">
                <a:solidFill>
                  <a:srgbClr val="FFFFFF"/>
                </a:solidFill>
              </a:rPr>
              <a:t>Classification (ML)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</a:rPr>
              <a:t>Data Science Course | Final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152144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Problem 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48132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Business context and goals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41148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97280"/>
            <a:ext cx="411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1152144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Dataset &amp; EDA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48132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28 features, 1,200 records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011680"/>
            <a:ext cx="41148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11680"/>
            <a:ext cx="411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066544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39572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Missing values, duplicates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01168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011680"/>
            <a:ext cx="41148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011680"/>
            <a:ext cx="411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2066544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239572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New features + encoding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26080"/>
            <a:ext cx="41148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26080"/>
            <a:ext cx="411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2980944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Model Building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31012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5 ML algorithms compared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92608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926080"/>
            <a:ext cx="41148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926080"/>
            <a:ext cx="411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2980944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Evaluation &amp; Tuning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31012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GridSearchCV + metrics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840480"/>
            <a:ext cx="41148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40480"/>
            <a:ext cx="411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" y="3895344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422452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Top 3 factors identified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84048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3840480"/>
            <a:ext cx="41148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840480"/>
            <a:ext cx="411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03520" y="3895344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422452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Actionable HR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</a:rPr>
              <a:t>Problem Definition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3474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74904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INX Future Inc.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 leading data analytics provider has seen declining employee performance indexes over recent years — a growing concern for top management.
</a:t>
            </a:r>
            <a:r>
              <a:rPr lang="en-US" sz="1100" dirty="0">
                <a:solidFill>
                  <a:srgbClr val="FFFFFF"/>
                </a:solidFill>
              </a:rPr>
              <a:t>The CEO initiated a data science project to: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Identify root causes of poor performance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Build a predictive ML model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Find top 3 influencing factors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Provide HR recommendations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Project Specifications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114800" cy="530352"/>
          </a:xfrm>
          <a:prstGeom prst="rect">
            <a:avLst/>
          </a:prstGeom>
          <a:solidFill>
            <a:srgbClr val="EAF4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453896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Problem 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655064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Multi-class Classification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075688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112264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Target Variable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313432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PerformanceRating (1–4)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734056"/>
            <a:ext cx="4114800" cy="530352"/>
          </a:xfrm>
          <a:prstGeom prst="rect">
            <a:avLst/>
          </a:prstGeom>
          <a:solidFill>
            <a:srgbClr val="EAF4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770632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Records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97180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1,200 Employees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392424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42900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630168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28 Attributes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050792"/>
            <a:ext cx="4114800" cy="530352"/>
          </a:xfrm>
          <a:prstGeom prst="rect">
            <a:avLst/>
          </a:prstGeom>
          <a:solidFill>
            <a:srgbClr val="EAF4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08736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Best Accuracy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4288536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~93% (Random Forest)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INX Future Inc. Employee Performance | Kaggle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40233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3749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Age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Gender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Marital Status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Education Level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Education Background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Job Information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18488"/>
            <a:ext cx="3749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Department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Job Role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Job Level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Business Travel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Overtime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80360"/>
            <a:ext cx="402336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Satisfaction KPIs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64408"/>
            <a:ext cx="3749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Environment Satisfaction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Job Satisfaction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Relationship Satisfaction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Work-Life Balance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880360"/>
            <a:ext cx="4023360" cy="347472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8036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Performance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264408"/>
            <a:ext cx="3749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Salary Hike %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Training Times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Years at Company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C2833"/>
                </a:solidFill>
              </a:rPr>
              <a:t>Years Since Promotion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544568"/>
            <a:ext cx="841248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544568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Target: PerformanceRating  |  1 = Low   2 = Good   3 = Excellent   4 = Outstanding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</a:rPr>
              <a:t>Exploratory Data Analysis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577840" y="91440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Key EDA Insights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577840" y="1444752"/>
            <a:ext cx="292608" cy="29260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77840" y="144475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0" y="141732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833"/>
                </a:solidFill>
              </a:rPr>
              <a:t>Data Science &amp; Development departments have the highest avg. performance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77840" y="2084832"/>
            <a:ext cx="292608" cy="29260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208483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0" y="205740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833"/>
                </a:solidFill>
              </a:rPr>
              <a:t>Salary Hike % has the strongest positive correlation with performance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2724912"/>
            <a:ext cx="292608" cy="29260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272491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0" y="269748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833"/>
                </a:solidFill>
              </a:rPr>
              <a:t>Long promotion gaps lead to lower performance ratings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364992"/>
            <a:ext cx="292608" cy="29260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336499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333756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833"/>
                </a:solidFill>
              </a:rPr>
              <a:t>Employees with high Work-Life Balance consistently score higher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4005072"/>
            <a:ext cx="292608" cy="29260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4005072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0" y="397764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833"/>
                </a:solidFill>
              </a:rPr>
              <a:t>Overtime employees tend to have mixed performance distributions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</a:rPr>
              <a:t>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00584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005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08760" y="1060704"/>
            <a:ext cx="7040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Label Encoding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353312"/>
            <a:ext cx="7040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Converted all categorical columns (Gender, Department, Job Role, etc.) into numerical values using LabelEncoder for ML compatibility.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1005840" cy="77724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1005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1975104"/>
            <a:ext cx="7040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SatisfactionScore (New)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2267712"/>
            <a:ext cx="7040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Created composite score: average of Environment Satisfaction, Job Satisfaction, Relationship Satisfaction &amp; Work-Life Balance.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34640"/>
            <a:ext cx="1005840" cy="7772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34640"/>
            <a:ext cx="1005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2889504"/>
            <a:ext cx="7040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LoyaltyIndex (New)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3182112"/>
            <a:ext cx="7040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Ratio of company tenure to total work experience — measures employee dedication and organizational commitment.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49040"/>
            <a:ext cx="1005840" cy="77724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49040"/>
            <a:ext cx="1005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08760" y="3803904"/>
            <a:ext cx="7040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PromotionGap (New)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96512"/>
            <a:ext cx="7040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Difference between years since last promotion and years in current role — highlights stagnation risk.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Final Dataset: 30 features (27 original + 3 engineered) | 1,200 samples ready for ML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</a:rPr>
              <a:t>Model Building &amp; Results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914400"/>
            <a:ext cx="2926080" cy="1645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100584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C9C"/>
                </a:solidFill>
              </a:rPr>
              <a:t>Best Model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852160" y="137160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Random Forest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852160" y="187452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BC9C"/>
                </a:solidFill>
              </a:rPr>
              <a:t>93% Accuracy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52160" y="2395728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D8DC"/>
                </a:solidFill>
              </a:rPr>
              <a:t>with GridSearchCV Tuning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852160" y="2834640"/>
          <a:ext cx="2926080" cy="1554480"/>
        </p:xfrm>
        <a:graphic>
          <a:graphicData uri="http://schemas.openxmlformats.org/drawingml/2006/table">
            <a:tbl>
              <a:tblPr/>
              <a:tblGrid>
                <a:gridCol w="1554480"/>
                <a:gridCol w="685800"/>
                <a:gridCol w="685800"/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Train Acc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Test Acc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Logistic Regression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~78%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~72%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Decision Tree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~100%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~79%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</a:rPr>
                        <a:t>Random Forest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C2833"/>
                          </a:solidFill>
                        </a:rPr>
                        <a:t>~99%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~93%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Gradient Boosting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~98%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~91%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SVM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~92%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~85%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BC9C"/>
                </a:solidFill>
              </a:rPr>
              <a:t>Top 3 Factors Affecting Employee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85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BC9C"/>
                </a:solidFill>
              </a:rPr>
              <a:t>#1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5669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Salary Hike Percent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5669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5D8DC"/>
                </a:solidFill>
              </a:rPr>
              <a:t>Employees who received higher salary increments consistently demonstrate better performance. Compensation is the top motivational driver.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0" y="1399032"/>
            <a:ext cx="1645920" cy="7315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399032"/>
            <a:ext cx="1645920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0.24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0" y="182880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Importance Score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14600"/>
            <a:ext cx="685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</a:rPr>
              <a:t>#2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560320"/>
            <a:ext cx="5669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Environment Satisfaction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926080"/>
            <a:ext cx="5669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5D8DC"/>
                </a:solidFill>
              </a:rPr>
              <a:t>A positive, well-resourced work environment leads to higher productivity and output. Low satisfaction leads to disengagement and poor ratings.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2633472"/>
            <a:ext cx="1645920" cy="7315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633472"/>
            <a:ext cx="1645920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0.18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49440" y="306324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Importance Score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841248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685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4C3C"/>
                </a:solidFill>
              </a:rPr>
              <a:t>#3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88720" y="3794760"/>
            <a:ext cx="5669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Work-Life Balance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160520"/>
            <a:ext cx="5669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5D8DC"/>
                </a:solidFill>
              </a:rPr>
              <a:t>Employees maintaining healthy work-life balance outperform peers. Burnout from excessive overtime significantly degrades performance.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3867912"/>
            <a:ext cx="1645920" cy="731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867912"/>
            <a:ext cx="1645920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0.15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9440" y="429768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Importance Score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</a:rPr>
              <a:t>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261872"/>
            <a:ext cx="384048" cy="38404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6187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987552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Competitive Salary Hikes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35024"/>
            <a:ext cx="3429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</a:rPr>
              <a:t>Implement regular performance-linked salary reviews. Employees with above 15% hike show 40% higher performance rating probability.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2468880"/>
            <a:ext cx="384048" cy="384048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46888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Improve Work Environment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542032"/>
            <a:ext cx="3429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</a:rPr>
              <a:t>Invest in workplace facilities, open team culture, mental health programs, and physical workspace upgrades.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675888"/>
            <a:ext cx="384048" cy="38404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67588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401568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Work-Life Balance Policy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749040"/>
            <a:ext cx="3429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</a:rPr>
              <a:t>Introduce hybrid work options, cap mandatory overtime, offer mental health days, and flexible scheduling programs.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9144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56048" y="1261872"/>
            <a:ext cx="384048" cy="384048"/>
          </a:xfrm>
          <a:prstGeom prst="ellipse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26187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987552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Clear Promotion Pathways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1335024"/>
            <a:ext cx="3429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</a:rPr>
              <a:t>Design structured career ladders with transparent criteria. Ensure no employee waits more than 3 years without growth.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212140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2468880"/>
            <a:ext cx="384048" cy="384048"/>
          </a:xfrm>
          <a:prstGeom prst="ellipse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46888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2194560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Manager Rotation Program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2542032"/>
            <a:ext cx="3429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</a:rPr>
              <a:t>Rotate team managers every 2-3 years to bring fresh leadership styles and prevent performance stagnation.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11680" cy="1188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</a:rPr>
              <a:t>1,200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Employee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2011680" cy="1188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3716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</a:rPr>
              <a:t>28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196596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Features Analyzed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2011680" cy="1188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716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ML Models Tested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1280160"/>
            <a:ext cx="2011680" cy="1188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3716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BC9C"/>
                </a:solidFill>
              </a:rPr>
              <a:t>93%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49440" y="196596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Best Accuracy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1195" y="37490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-386080" y="2917190"/>
            <a:ext cx="84124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>
              <a:lnSpc>
                <a:spcPct val="140000"/>
              </a:lnSpc>
              <a:buSzPct val="100000"/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3525" y="374904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BC9C"/>
                </a:solidFill>
              </a:rPr>
              <a:t>Thank You!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4182</Words>
  <Application>WPS Presentation</Application>
  <PresentationFormat>On-screen Show (16:9)</PresentationFormat>
  <Paragraphs>317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Performance Index Prediction</dc:title>
  <dc:creator>Data Science Student</dc:creator>
  <dc:subject>PptxGenJS Presentation</dc:subject>
  <cp:lastModifiedBy>iqras</cp:lastModifiedBy>
  <cp:revision>2</cp:revision>
  <dcterms:created xsi:type="dcterms:W3CDTF">2026-05-03T10:35:00Z</dcterms:created>
  <dcterms:modified xsi:type="dcterms:W3CDTF">2026-05-03T11:09:18Z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04959271732040E0BF778F990B9B1154_12</vt:lpwstr>
  </property>
  <property fmtid="{D5CDD505-2E9C-101B-9397-08002B2CF9AE}" pid="3" name="KSOProductBuildVer">
    <vt:lpwstr>1033-12.1.0.25242</vt:lpwstr>
  </property>
</Properties>
</file>